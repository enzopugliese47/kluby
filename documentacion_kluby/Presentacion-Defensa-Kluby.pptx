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kluby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9512" y="1691640"/>
            <a:ext cx="1031179" cy="91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7432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Ecosistema Digital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4612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Kluby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6908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Calibri"/>
              </a:defRPr>
            </a:pPr>
            <a:r>
              <a:t>Reservas VIP para boliches · Web + APK Android · Despliegue en produccion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0916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CARRERA: ANALISIS DE SISTEMAS  |  TRABAJO FINAL DE CARRERA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07492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6B6D4"/>
                </a:solidFill>
                <a:latin typeface="Calibri"/>
              </a:defRPr>
            </a:pPr>
            <a:r>
              <a:t>AUTOR: ENZO PUGLIESE  |  AGOSTO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5216" y="46634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Estructura de la </a:t>
            </a:r>
            <a:r>
              <a:rPr sz="3400" b="1">
                <a:solidFill>
                  <a:srgbClr val="06B6D4"/>
                </a:solidFill>
                <a:latin typeface="Calibri"/>
              </a:rPr>
              <a:t>Defensa</a:t>
            </a:r>
            <a:r>
              <a:rPr sz="3400" b="1">
                <a:solidFill>
                  <a:srgbClr val="FFFFFF"/>
                </a:solidFill>
                <a:latin typeface="Calibri"/>
              </a:rPr>
              <a:t> (60 min)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5216" y="1371600"/>
            <a:ext cx="3474720" cy="292608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  <a:latin typeface="Calibri"/>
              </a:defRPr>
            </a:pPr>
            <a:r>
              <a:t>1. Presentacion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3017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06B6D4"/>
                </a:solidFill>
                <a:latin typeface="Calibri"/>
              </a:rPr>
              <a:t>• Duracion: </a:t>
            </a:r>
            <a:r>
              <a:rPr sz="1300">
                <a:solidFill>
                  <a:srgbClr val="94A3B8"/>
                </a:solidFill>
                <a:latin typeface="Calibri"/>
              </a:rPr>
              <a:t>~18 min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6B6D4"/>
                </a:solidFill>
                <a:latin typeface="Calibri"/>
              </a:rPr>
              <a:t>• Formato: </a:t>
            </a:r>
            <a:r>
              <a:rPr sz="1300">
                <a:solidFill>
                  <a:srgbClr val="94A3B8"/>
                </a:solidFill>
                <a:latin typeface="Calibri"/>
              </a:rPr>
              <a:t>Solo PowerPoint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6B6D4"/>
                </a:solidFill>
                <a:latin typeface="Calibri"/>
              </a:rPr>
              <a:t>• Contenido: </a:t>
            </a:r>
            <a:r>
              <a:rPr sz="1300">
                <a:solidFill>
                  <a:srgbClr val="94A3B8"/>
                </a:solidFill>
                <a:latin typeface="Calibri"/>
              </a:rPr>
              <a:t>Problema, solucion, negocio, alcance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371600"/>
            <a:ext cx="3474720" cy="292608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5087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6B6D4"/>
                </a:solidFill>
                <a:latin typeface="Calibri"/>
              </a:defRPr>
            </a:pPr>
            <a:r>
              <a:t>2. Demo en vivo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920240"/>
            <a:ext cx="3017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06B6D4"/>
                </a:solidFill>
                <a:latin typeface="Calibri"/>
              </a:rPr>
              <a:t>• Duracion: </a:t>
            </a:r>
            <a:r>
              <a:rPr sz="1300">
                <a:solidFill>
                  <a:srgbClr val="94A3B8"/>
                </a:solidFill>
                <a:latin typeface="Calibri"/>
              </a:rPr>
              <a:t>~15 min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6B6D4"/>
                </a:solidFill>
                <a:latin typeface="Calibri"/>
              </a:rPr>
              <a:t>• Formato: </a:t>
            </a:r>
            <a:r>
              <a:rPr sz="1300">
                <a:solidFill>
                  <a:srgbClr val="94A3B8"/>
                </a:solidFill>
                <a:latin typeface="Calibri"/>
              </a:rPr>
              <a:t>Sistema en produccion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6B6D4"/>
                </a:solidFill>
                <a:latin typeface="Calibri"/>
              </a:rPr>
              <a:t>• Flujos: </a:t>
            </a:r>
            <a:r>
              <a:rPr sz="1300">
                <a:solidFill>
                  <a:srgbClr val="94A3B8"/>
                </a:solidFill>
                <a:latin typeface="Calibri"/>
              </a:rPr>
              <a:t>Cliente, panel B2B, puerta QR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371600"/>
            <a:ext cx="3474720" cy="292608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5087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94A3B8"/>
                </a:solidFill>
                <a:latin typeface="Calibri"/>
              </a:defRPr>
            </a:pPr>
            <a:r>
              <a:t>3. Preguntas + cierre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1920240"/>
            <a:ext cx="3017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06B6D4"/>
                </a:solidFill>
                <a:latin typeface="Calibri"/>
              </a:rPr>
              <a:t>• Preguntas: </a:t>
            </a:r>
            <a:r>
              <a:rPr sz="1300">
                <a:solidFill>
                  <a:srgbClr val="94A3B8"/>
                </a:solidFill>
                <a:latin typeface="Calibri"/>
              </a:rPr>
              <a:t>20 min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6B6D4"/>
                </a:solidFill>
                <a:latin typeface="Calibri"/>
              </a:rPr>
              <a:t>• Cierre: </a:t>
            </a:r>
            <a:r>
              <a:rPr sz="1300">
                <a:solidFill>
                  <a:srgbClr val="94A3B8"/>
                </a:solidFill>
                <a:latin typeface="Calibri"/>
              </a:rPr>
              <a:t>10 min feedback y nota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6B6D4"/>
                </a:solidFill>
                <a:latin typeface="Calibri"/>
              </a:rPr>
              <a:t>• : </a:t>
            </a:r>
            <a:r>
              <a:rPr sz="1300">
                <a:solidFill>
                  <a:srgbClr val="94A3B8"/>
                </a:solidFill>
                <a:latin typeface="Calibri"/>
              </a:rPr>
              <a:t>Primero cierro slides, despues abro la demo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5216" y="46634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Analisis de la </a:t>
            </a:r>
            <a:r>
              <a:rPr sz="3400" b="1">
                <a:solidFill>
                  <a:srgbClr val="06B6D4"/>
                </a:solidFill>
                <a:latin typeface="Calibri"/>
              </a:rPr>
              <a:t>Industria Nocturna</a:t>
            </a:r>
            <a:r>
              <a:rPr sz="34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4173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87171"/>
                </a:solidFill>
                <a:latin typeface="Calibri"/>
              </a:defRPr>
            </a:pPr>
            <a:r>
              <a:t>Diagnostico (Puntos de Dolor)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36208" y="14173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  <a:latin typeface="Calibri"/>
              </a:defRPr>
            </a:pPr>
            <a:r>
              <a:t>Enfoque Kluby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" y="1920240"/>
            <a:ext cx="5029200" cy="260604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06B6D4"/>
                </a:solidFill>
                <a:latin typeface="Calibri"/>
              </a:rPr>
              <a:t>• Precios opacos: </a:t>
            </a:r>
            <a:r>
              <a:rPr sz="1300">
                <a:solidFill>
                  <a:srgbClr val="94A3B8"/>
                </a:solidFill>
                <a:latin typeface="Calibri"/>
              </a:rPr>
              <a:t>Tarifas variables negociadas por WhatsApp o RRPP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6B6D4"/>
                </a:solidFill>
                <a:latin typeface="Calibri"/>
              </a:rPr>
              <a:t>• Incertidumbre fisica: </a:t>
            </a:r>
            <a:r>
              <a:rPr sz="1300">
                <a:solidFill>
                  <a:srgbClr val="94A3B8"/>
                </a:solidFill>
                <a:latin typeface="Calibri"/>
              </a:rPr>
              <a:t>El cliente no sabe que mesa reserva ni donde queda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6B6D4"/>
                </a:solidFill>
                <a:latin typeface="Calibri"/>
              </a:rPr>
              <a:t>• Canales informales: </a:t>
            </a:r>
            <a:r>
              <a:rPr sz="1300">
                <a:solidFill>
                  <a:srgbClr val="94A3B8"/>
                </a:solidFill>
                <a:latin typeface="Calibri"/>
              </a:rPr>
              <a:t>Confirmacion lenta, sobreventas y listas en papel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6B6D4"/>
                </a:solidFill>
                <a:latin typeface="Calibri"/>
              </a:rPr>
              <a:t>• Sin datos: </a:t>
            </a:r>
            <a:r>
              <a:rPr sz="1300">
                <a:solidFill>
                  <a:srgbClr val="94A3B8"/>
                </a:solidFill>
                <a:latin typeface="Calibri"/>
              </a:rPr>
              <a:t>El boliche no mide ocupacion ni ingresos anticipados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1920240"/>
            <a:ext cx="5029200" cy="260604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210312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06B6D4"/>
                </a:solidFill>
                <a:latin typeface="Calibri"/>
              </a:rPr>
              <a:t>• Transparencia: </a:t>
            </a:r>
            <a:r>
              <a:rPr sz="1300">
                <a:solidFill>
                  <a:srgbClr val="94A3B8"/>
                </a:solidFill>
                <a:latin typeface="Calibri"/>
              </a:rPr>
              <a:t>Precio publicado y mesa elegida en mapa 2D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6B6D4"/>
                </a:solidFill>
                <a:latin typeface="Calibri"/>
              </a:rPr>
              <a:t>• Autogestion 24/7: </a:t>
            </a:r>
            <a:r>
              <a:rPr sz="1300">
                <a:solidFill>
                  <a:srgbClr val="94A3B8"/>
                </a:solidFill>
                <a:latin typeface="Calibri"/>
              </a:rPr>
              <a:t>Reserva y pago sin depender de un intermediario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6B6D4"/>
                </a:solidFill>
                <a:latin typeface="Calibri"/>
              </a:rPr>
              <a:t>• Ticket QR: </a:t>
            </a:r>
            <a:r>
              <a:rPr sz="1300">
                <a:solidFill>
                  <a:srgbClr val="94A3B8"/>
                </a:solidFill>
                <a:latin typeface="Calibri"/>
              </a:rPr>
              <a:t>Ingreso controlado en puerta con check-in digital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6B6D4"/>
                </a:solidFill>
                <a:latin typeface="Calibri"/>
              </a:rPr>
              <a:t>• Panel B2B: </a:t>
            </a:r>
            <a:r>
              <a:rPr sz="1300">
                <a:solidFill>
                  <a:srgbClr val="94A3B8"/>
                </a:solidFill>
                <a:latin typeface="Calibri"/>
              </a:rPr>
              <a:t>Operacion en vivo, facturacion y estadisticas Premium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5216" y="46634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Que es </a:t>
            </a:r>
            <a:r>
              <a:rPr sz="3400" b="1">
                <a:solidFill>
                  <a:srgbClr val="06B6D4"/>
                </a:solidFill>
                <a:latin typeface="Calibri"/>
              </a:rPr>
              <a:t>Kluby</a:t>
            </a:r>
            <a:r>
              <a:rPr sz="3400" b="1">
                <a:solidFill>
                  <a:srgbClr val="FFFFFF"/>
                </a:solidFill>
                <a:latin typeface="Calibri"/>
              </a:rPr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4630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B5CF6"/>
                </a:solidFill>
                <a:latin typeface="Calibri"/>
              </a:defRPr>
            </a:pPr>
            <a:r>
              <a:t>La digitalizacion del entretenimiento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874519"/>
            <a:ext cx="5486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Kluby es una plataforma B2B2C que unifica la experiencia del cliente (web y APK Android) con paneles de administracion para boliches. Profesionaliza la logistica nocturna tomando lo mejor del ticketing online: elegir, pagar e ingresar con un solo flujo.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41148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B6D4"/>
                </a:solidFill>
                <a:latin typeface="Calibri"/>
              </a:defRPr>
            </a:pPr>
            <a:r>
              <a:t>Desplegado en Railway · PostgreSQL Supabase · Demo Kora seeded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463040"/>
            <a:ext cx="5029200" cy="292608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645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Ciclo completo implementado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011680"/>
            <a:ext cx="45720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06B6D4"/>
                </a:solidFill>
                <a:latin typeface="Calibri"/>
              </a:rPr>
              <a:t>• Explorar: </a:t>
            </a:r>
            <a:r>
              <a:rPr sz="1300">
                <a:solidFill>
                  <a:srgbClr val="94A3B8"/>
                </a:solidFill>
                <a:latin typeface="Calibri"/>
              </a:rPr>
              <a:t>Boliches, eventos, flyers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6B6D4"/>
                </a:solidFill>
                <a:latin typeface="Calibri"/>
              </a:rPr>
              <a:t>• Reservar: </a:t>
            </a:r>
            <a:r>
              <a:rPr sz="1300">
                <a:solidFill>
                  <a:srgbClr val="94A3B8"/>
                </a:solidFill>
                <a:latin typeface="Calibri"/>
              </a:rPr>
              <a:t>Wizard + mapa multi-piso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6B6D4"/>
                </a:solidFill>
                <a:latin typeface="Calibri"/>
              </a:rPr>
              <a:t>• Pagar: </a:t>
            </a:r>
            <a:r>
              <a:rPr sz="1300">
                <a:solidFill>
                  <a:srgbClr val="94A3B8"/>
                </a:solidFill>
                <a:latin typeface="Calibri"/>
              </a:rPr>
              <a:t>Mercado Pago + modo demo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6B6D4"/>
                </a:solidFill>
                <a:latin typeface="Calibri"/>
              </a:rPr>
              <a:t>• Ingresar: </a:t>
            </a:r>
            <a:r>
              <a:rPr sz="1300">
                <a:solidFill>
                  <a:srgbClr val="94A3B8"/>
                </a:solidFill>
                <a:latin typeface="Calibri"/>
              </a:rPr>
              <a:t>QR en puerta + Kluby Points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5216" y="46634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Propuesta de </a:t>
            </a:r>
            <a:r>
              <a:rPr sz="3400" b="1">
                <a:solidFill>
                  <a:srgbClr val="06B6D4"/>
                </a:solidFill>
                <a:latin typeface="Calibri"/>
              </a:rPr>
              <a:t>Valor Dual</a:t>
            </a:r>
            <a:r>
              <a:rPr sz="34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417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B5CF6"/>
                </a:solidFill>
                <a:latin typeface="Calibri"/>
              </a:defRPr>
            </a:pPr>
            <a:r>
              <a:t>Experiencia de Usuario (B2C)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36208" y="1417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B5CF6"/>
                </a:solidFill>
                <a:latin typeface="Calibri"/>
              </a:defRPr>
            </a:pPr>
            <a:r>
              <a:t>Control de Negocio (B2B)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" y="1920240"/>
            <a:ext cx="5029200" cy="260604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06B6D4"/>
                </a:solidFill>
                <a:latin typeface="Calibri"/>
              </a:rPr>
              <a:t>• Eleccion exacta: </a:t>
            </a:r>
            <a:r>
              <a:rPr sz="1300">
                <a:solidFill>
                  <a:srgbClr val="94A3B8"/>
                </a:solidFill>
                <a:latin typeface="Calibri"/>
              </a:rPr>
              <a:t>Mapa 2D con mesas disponibles en verde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6B6D4"/>
                </a:solidFill>
                <a:latin typeface="Calibri"/>
              </a:rPr>
              <a:t>• Mesa abierta: </a:t>
            </a:r>
            <a:r>
              <a:rPr sz="1300">
                <a:solidFill>
                  <a:srgbClr val="94A3B8"/>
                </a:solidFill>
                <a:latin typeface="Calibri"/>
              </a:rPr>
              <a:t>Split bill entre amigos con chat integrado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6B6D4"/>
                </a:solidFill>
                <a:latin typeface="Calibri"/>
              </a:rPr>
              <a:t>• Kluby Points: </a:t>
            </a:r>
            <a:r>
              <a:rPr sz="1300">
                <a:solidFill>
                  <a:srgbClr val="94A3B8"/>
                </a:solidFill>
                <a:latin typeface="Calibri"/>
              </a:rPr>
              <a:t>Fidelizacion al cerrar mesa en puerta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6B6D4"/>
                </a:solidFill>
                <a:latin typeface="Calibri"/>
              </a:rPr>
              <a:t>• Ticket digital: </a:t>
            </a:r>
            <a:r>
              <a:rPr sz="1300">
                <a:solidFill>
                  <a:srgbClr val="94A3B8"/>
                </a:solidFill>
                <a:latin typeface="Calibri"/>
              </a:rPr>
              <a:t>QR unico para check-in sin filas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1920240"/>
            <a:ext cx="5029200" cy="260604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210312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06B6D4"/>
                </a:solidFill>
                <a:latin typeface="Calibri"/>
              </a:rPr>
              <a:t>• Diseno de salones: </a:t>
            </a:r>
            <a:r>
              <a:rPr sz="1300">
                <a:solidFill>
                  <a:srgbClr val="94A3B8"/>
                </a:solidFill>
                <a:latin typeface="Calibri"/>
              </a:rPr>
              <a:t>Editor de mesas hasta 3 pisos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6B6D4"/>
                </a:solidFill>
                <a:latin typeface="Calibri"/>
              </a:rPr>
              <a:t>• Operacion en vivo: </a:t>
            </a:r>
            <a:r>
              <a:rPr sz="1300">
                <a:solidFill>
                  <a:srgbClr val="94A3B8"/>
                </a:solidFill>
                <a:latin typeface="Calibri"/>
              </a:rPr>
              <a:t>Estados: reservada, pagada, check-in, cerrada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6B6D4"/>
                </a:solidFill>
                <a:latin typeface="Calibri"/>
              </a:rPr>
              <a:t>• Plan Premium: </a:t>
            </a:r>
            <a:r>
              <a:rPr sz="1300">
                <a:solidFill>
                  <a:srgbClr val="94A3B8"/>
                </a:solidFill>
                <a:latin typeface="Calibri"/>
              </a:rPr>
              <a:t>Estadisticas, comision 2% vs 4% Básico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6B6D4"/>
                </a:solidFill>
                <a:latin typeface="Calibri"/>
              </a:rPr>
              <a:t>• Facturacion: </a:t>
            </a:r>
            <a:r>
              <a:rPr sz="1300">
                <a:solidFill>
                  <a:srgbClr val="94A3B8"/>
                </a:solidFill>
                <a:latin typeface="Calibri"/>
              </a:rPr>
              <a:t>Comisiones y suscripcion $29.900/mes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5216" y="46634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Por que </a:t>
            </a:r>
            <a:r>
              <a:rPr sz="3400" b="1">
                <a:solidFill>
                  <a:srgbClr val="06B6D4"/>
                </a:solidFill>
                <a:latin typeface="Calibri"/>
              </a:rPr>
              <a:t>Kluby</a:t>
            </a:r>
            <a:r>
              <a:rPr sz="3400" b="1">
                <a:solidFill>
                  <a:srgbClr val="FFFFFF"/>
                </a:solidFill>
                <a:latin typeface="Calibri"/>
              </a:rPr>
              <a:t>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5216" y="1371600"/>
            <a:ext cx="2377440" cy="301752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2376" y="15544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Calibri"/>
              </a:defRPr>
            </a:pPr>
            <a:r>
              <a:t>Mapa 2D interactivo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228600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El cliente ve el salon real y elige la mesa exacta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54680" y="1371600"/>
            <a:ext cx="2377440" cy="301752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0" y="15544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Calibri"/>
              </a:defRPr>
            </a:pPr>
            <a:r>
              <a:t>Mesa abierta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28600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Un anfitrion invita amigos y dividen el pago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24144" y="1371600"/>
            <a:ext cx="2377440" cy="301752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61304" y="15544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Calibri"/>
              </a:defRPr>
            </a:pPr>
            <a:r>
              <a:t>Planes B2B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61304" y="228600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Basico vs Premium con stats y menor comision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93608" y="1371600"/>
            <a:ext cx="2377440" cy="301752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30768" y="15544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Calibri"/>
              </a:defRPr>
            </a:pPr>
            <a:r>
              <a:t>Una sola codebase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0768" y="228600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Web + APK Capacitor apuntando a produccion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5216" y="46634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Ecosistema </a:t>
            </a:r>
            <a:r>
              <a:rPr sz="3400" b="1">
                <a:solidFill>
                  <a:srgbClr val="06B6D4"/>
                </a:solidFill>
                <a:latin typeface="Calibri"/>
              </a:rPr>
              <a:t>Kluby</a:t>
            </a:r>
            <a:r>
              <a:rPr sz="34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417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6B6D4"/>
                </a:solidFill>
                <a:latin typeface="Calibri"/>
              </a:defRPr>
            </a:pPr>
            <a:r>
              <a:t>Cliente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141732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app.html — reserva, pago, puntos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920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6B6D4"/>
                </a:solidFill>
                <a:latin typeface="Calibri"/>
              </a:defRPr>
            </a:pPr>
            <a:r>
              <a:t>Dueno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192024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panel.html — eventos, mesas, stats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24231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6B6D4"/>
                </a:solidFill>
                <a:latin typeface="Calibri"/>
              </a:defRPr>
            </a:pPr>
            <a:r>
              <a:t>Publi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242316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publi.html — invitaciones y campanas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2926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6B6D4"/>
                </a:solidFill>
                <a:latin typeface="Calibri"/>
              </a:defRPr>
            </a:pPr>
            <a:r>
              <a:t>Puerta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92608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staff.html — escaneo QR y cierre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34290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6B6D4"/>
                </a:solidFill>
                <a:latin typeface="Calibri"/>
              </a:defRPr>
            </a:pPr>
            <a:r>
              <a:t>Admin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34290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Vista multi-boliche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5216" y="46634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Modelo de </a:t>
            </a:r>
            <a:r>
              <a:rPr sz="3400" b="1">
                <a:solidFill>
                  <a:srgbClr val="06B6D4"/>
                </a:solidFill>
                <a:latin typeface="Calibri"/>
              </a:rPr>
              <a:t>Negocio</a:t>
            </a:r>
            <a:r>
              <a:rPr sz="34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5216" y="1371600"/>
            <a:ext cx="5303520" cy="301752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  <a:latin typeface="Calibri"/>
              </a:defRPr>
            </a:pPr>
            <a:r>
              <a:t>Fuentes de ingreso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06B6D4"/>
                </a:solidFill>
                <a:latin typeface="Calibri"/>
              </a:rPr>
              <a:t>• Comision por mesa: </a:t>
            </a:r>
            <a:r>
              <a:rPr sz="1400">
                <a:solidFill>
                  <a:srgbClr val="94A3B8"/>
                </a:solidFill>
                <a:latin typeface="Calibri"/>
              </a:rPr>
              <a:t>4% plan Basico · 2% plan Premium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6B6D4"/>
                </a:solidFill>
                <a:latin typeface="Calibri"/>
              </a:rPr>
              <a:t>• Suscripcion Premium: </a:t>
            </a:r>
            <a:r>
              <a:rPr sz="1400">
                <a:solidFill>
                  <a:srgbClr val="94A3B8"/>
                </a:solidFill>
                <a:latin typeface="Calibri"/>
              </a:rPr>
              <a:t>$29.900 / mes por boliche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6B6D4"/>
                </a:solidFill>
                <a:latin typeface="Calibri"/>
              </a:rPr>
              <a:t>• Ejemplo: </a:t>
            </a:r>
            <a:r>
              <a:rPr sz="1400">
                <a:solidFill>
                  <a:srgbClr val="94A3B8"/>
                </a:solidFill>
                <a:latin typeface="Calibri"/>
              </a:rPr>
              <a:t>Mesa $150.000 -&gt; Kluby gana $6.000 (Basico)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371600"/>
            <a:ext cx="5303520" cy="301752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5087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6B6D4"/>
                </a:solidFill>
                <a:latin typeface="Calibri"/>
              </a:defRPr>
            </a:pPr>
            <a:r>
              <a:t>Punto de equilibrio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920240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06B6D4"/>
                </a:solidFill>
                <a:latin typeface="Calibri"/>
              </a:rPr>
              <a:t>• Fase inicial: </a:t>
            </a:r>
            <a:r>
              <a:rPr sz="1400">
                <a:solidFill>
                  <a:srgbClr val="94A3B8"/>
                </a:solidFill>
                <a:latin typeface="Calibri"/>
              </a:rPr>
              <a:t>~10 mesas/mes cubren costos basicos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6B6D4"/>
                </a:solidFill>
                <a:latin typeface="Calibri"/>
              </a:rPr>
              <a:t>• Operacion con sueldo: </a:t>
            </a:r>
            <a:r>
              <a:rPr sz="1400">
                <a:solidFill>
                  <a:srgbClr val="94A3B8"/>
                </a:solidFill>
                <a:latin typeface="Calibri"/>
              </a:rPr>
              <a:t>~130 mesas/mes (menos con Premium)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6B6D4"/>
                </a:solidFill>
                <a:latin typeface="Calibri"/>
              </a:rPr>
              <a:t>• Atajo: </a:t>
            </a:r>
            <a:r>
              <a:rPr sz="1400">
                <a:solidFill>
                  <a:srgbClr val="94A3B8"/>
                </a:solidFill>
                <a:latin typeface="Calibri"/>
              </a:rPr>
              <a:t>2 boliches Premium ~ cubren costos sin mesas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5216" y="46634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Stack </a:t>
            </a:r>
            <a:r>
              <a:rPr sz="3400" b="1">
                <a:solidFill>
                  <a:srgbClr val="06B6D4"/>
                </a:solidFill>
                <a:latin typeface="Calibri"/>
              </a:rPr>
              <a:t>Tecnologico</a:t>
            </a:r>
            <a:r>
              <a:rPr sz="34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417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  <a:latin typeface="Calibri"/>
              </a:defRPr>
            </a:pPr>
            <a:r>
              <a:t>Lo que se uso (MVP real)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5216" y="1828800"/>
            <a:ext cx="5029200" cy="269748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45720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06B6D4"/>
                </a:solidFill>
                <a:latin typeface="Calibri"/>
              </a:rPr>
              <a:t>• Backend: </a:t>
            </a:r>
            <a:r>
              <a:rPr sz="1300">
                <a:solidFill>
                  <a:srgbClr val="94A3B8"/>
                </a:solidFill>
                <a:latin typeface="Calibri"/>
              </a:rPr>
              <a:t>Node 20 + Express 5 + TypeScript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6B6D4"/>
                </a:solidFill>
                <a:latin typeface="Calibri"/>
              </a:rPr>
              <a:t>• Datos: </a:t>
            </a:r>
            <a:r>
              <a:rPr sz="1300">
                <a:solidFill>
                  <a:srgbClr val="94A3B8"/>
                </a:solidFill>
                <a:latin typeface="Calibri"/>
              </a:rPr>
              <a:t>Prisma 7 + PostgreSQL Supabase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6B6D4"/>
                </a:solidFill>
                <a:latin typeface="Calibri"/>
              </a:rPr>
              <a:t>• Frontend: </a:t>
            </a:r>
            <a:r>
              <a:rPr sz="1300">
                <a:solidFill>
                  <a:srgbClr val="94A3B8"/>
                </a:solidFill>
                <a:latin typeface="Calibri"/>
              </a:rPr>
              <a:t>HTML/CSS/JS vanilla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6B6D4"/>
                </a:solidFill>
                <a:latin typeface="Calibri"/>
              </a:rPr>
              <a:t>• Mobile: </a:t>
            </a:r>
            <a:r>
              <a:rPr sz="1300">
                <a:solidFill>
                  <a:srgbClr val="94A3B8"/>
                </a:solidFill>
                <a:latin typeface="Calibri"/>
              </a:rPr>
              <a:t>Capacitor 7 -&gt; APK Android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6B6D4"/>
                </a:solidFill>
                <a:latin typeface="Calibri"/>
              </a:rPr>
              <a:t>• Deploy: </a:t>
            </a:r>
            <a:r>
              <a:rPr sz="1300">
                <a:solidFill>
                  <a:srgbClr val="94A3B8"/>
                </a:solidFill>
                <a:latin typeface="Calibri"/>
              </a:rPr>
              <a:t>Railway PaaS en produccion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36208" y="1417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87171"/>
                </a:solidFill>
                <a:latin typeface="Calibri"/>
              </a:defRPr>
            </a:pPr>
            <a:r>
              <a:t>Correccion vs propuesta inicial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1828800"/>
            <a:ext cx="5029200" cy="269748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2011680"/>
            <a:ext cx="45720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06B6D4"/>
                </a:solidFill>
                <a:latin typeface="Calibri"/>
              </a:rPr>
              <a:t>• No se uso: </a:t>
            </a:r>
            <a:r>
              <a:rPr sz="1300">
                <a:solidFill>
                  <a:srgbClr val="94A3B8"/>
                </a:solidFill>
                <a:latin typeface="Calibri"/>
              </a:rPr>
              <a:t>React Native, React.js, MySQL, Firebase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6B6D4"/>
                </a:solidFill>
                <a:latin typeface="Calibri"/>
              </a:rPr>
              <a:t>• Por que Capacitor: </a:t>
            </a:r>
            <a:r>
              <a:rPr sz="1300">
                <a:solidFill>
                  <a:srgbClr val="94A3B8"/>
                </a:solidFill>
                <a:latin typeface="Calibri"/>
              </a:rPr>
              <a:t>Una codebase, deploy instantaneo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6B6D4"/>
                </a:solidFill>
                <a:latin typeface="Calibri"/>
              </a:rPr>
              <a:t>• Pagos: </a:t>
            </a:r>
            <a:r>
              <a:rPr sz="1300">
                <a:solidFill>
                  <a:srgbClr val="94A3B8"/>
                </a:solidFill>
                <a:latin typeface="Calibri"/>
              </a:rPr>
              <a:t>Mercado Pago + modo demo (sandbox inestable en CP-44)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6B6D4"/>
                </a:solidFill>
                <a:latin typeface="Calibri"/>
              </a:rPr>
              <a:t>• Detalle tecnico: </a:t>
            </a:r>
            <a:r>
              <a:rPr sz="1300">
                <a:solidFill>
                  <a:srgbClr val="94A3B8"/>
                </a:solidFill>
                <a:latin typeface="Calibri"/>
              </a:rPr>
              <a:t>Diagramas en documentacion escrita, no en oral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5216" y="46634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Alcance </a:t>
            </a:r>
            <a:r>
              <a:rPr sz="3400" b="1">
                <a:solidFill>
                  <a:srgbClr val="06B6D4"/>
                </a:solidFill>
                <a:latin typeface="Calibri"/>
              </a:rPr>
              <a:t>MVP</a:t>
            </a:r>
            <a:r>
              <a:rPr sz="3400" b="1">
                <a:solidFill>
                  <a:srgbClr val="FFFFFF"/>
                </a:solidFill>
                <a:latin typeface="Calibri"/>
              </a:rPr>
              <a:t> · Abr–Ago 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5216" y="1371600"/>
            <a:ext cx="5303520" cy="301752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  <a:latin typeface="Calibri"/>
              </a:defRPr>
            </a:pPr>
            <a:r>
              <a:t>Implementado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06B6D4"/>
                </a:solidFill>
                <a:latin typeface="Calibri"/>
              </a:rPr>
              <a:t>• Reservas: </a:t>
            </a:r>
            <a:r>
              <a:rPr sz="1300">
                <a:solidFill>
                  <a:srgbClr val="94A3B8"/>
                </a:solidFill>
                <a:latin typeface="Calibri"/>
              </a:rPr>
              <a:t>Wizard + mapa 2D multi-piso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6B6D4"/>
                </a:solidFill>
                <a:latin typeface="Calibri"/>
              </a:rPr>
              <a:t>• Social: </a:t>
            </a:r>
            <a:r>
              <a:rPr sz="1300">
                <a:solidFill>
                  <a:srgbClr val="94A3B8"/>
                </a:solidFill>
                <a:latin typeface="Calibri"/>
              </a:rPr>
              <a:t>Mesa abierta + chat + puntos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6B6D4"/>
                </a:solidFill>
                <a:latin typeface="Calibri"/>
              </a:rPr>
              <a:t>• B2B: </a:t>
            </a:r>
            <a:r>
              <a:rPr sz="1300">
                <a:solidFill>
                  <a:srgbClr val="94A3B8"/>
                </a:solidFill>
                <a:latin typeface="Calibri"/>
              </a:rPr>
              <a:t>Panel, stats Premium, facturacion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6B6D4"/>
                </a:solidFill>
                <a:latin typeface="Calibri"/>
              </a:rPr>
              <a:t>• Operacion: </a:t>
            </a:r>
            <a:r>
              <a:rPr sz="1300">
                <a:solidFill>
                  <a:srgbClr val="94A3B8"/>
                </a:solidFill>
                <a:latin typeface="Calibri"/>
              </a:rPr>
              <a:t>Check-in QR + APK Android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6B6D4"/>
                </a:solidFill>
                <a:latin typeface="Calibri"/>
              </a:rPr>
              <a:t>• Calidad: </a:t>
            </a:r>
            <a:r>
              <a:rPr sz="1300">
                <a:solidFill>
                  <a:srgbClr val="94A3B8"/>
                </a:solidFill>
                <a:latin typeface="Calibri"/>
              </a:rPr>
              <a:t>55 casos de prueba · 20 casos de uso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371600"/>
            <a:ext cx="5303520" cy="301752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5087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94A3B8"/>
                </a:solidFill>
                <a:latin typeface="Calibri"/>
              </a:defRPr>
            </a:pPr>
            <a:r>
              <a:t>Roadmap (fuera del MVP)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920240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06B6D4"/>
                </a:solidFill>
                <a:latin typeface="Calibri"/>
              </a:rPr>
              <a:t>• Geocerca GPS: </a:t>
            </a:r>
            <a:r>
              <a:rPr sz="1300">
                <a:solidFill>
                  <a:srgbClr val="94A3B8"/>
                </a:solidFill>
                <a:latin typeface="Calibri"/>
              </a:rPr>
              <a:t>Validacion de presencia en boliche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6B6D4"/>
                </a:solidFill>
                <a:latin typeface="Calibri"/>
              </a:rPr>
              <a:t>• DNI biometrico: </a:t>
            </a:r>
            <a:r>
              <a:rPr sz="1300">
                <a:solidFill>
                  <a:srgbClr val="94A3B8"/>
                </a:solidFill>
                <a:latin typeface="Calibri"/>
              </a:rPr>
              <a:t>Mayor seguridad en puerta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6B6D4"/>
                </a:solidFill>
                <a:latin typeface="Calibri"/>
              </a:rPr>
              <a:t>• iOS App Store: </a:t>
            </a:r>
            <a:r>
              <a:rPr sz="1300">
                <a:solidFill>
                  <a:srgbClr val="94A3B8"/>
                </a:solidFill>
                <a:latin typeface="Calibri"/>
              </a:rPr>
              <a:t>Publicacion nativa Apple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6B6D4"/>
                </a:solidFill>
                <a:latin typeface="Calibri"/>
              </a:rPr>
              <a:t>• MP produccion: </a:t>
            </a:r>
            <a:r>
              <a:rPr sz="1300">
                <a:solidFill>
                  <a:srgbClr val="94A3B8"/>
                </a:solidFill>
                <a:latin typeface="Calibri"/>
              </a:rPr>
              <a:t>Estabilizar pasarela real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5216" y="46634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Conclusiones</a:t>
            </a:r>
            <a:r>
              <a:rPr sz="3400" b="1">
                <a:solidFill>
                  <a:srgbClr val="06B6D4"/>
                </a:solidFill>
                <a:latin typeface="Calibri"/>
              </a:rPr>
              <a:t/>
            </a:r>
            <a:r>
              <a:rPr sz="34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46304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06B6D4"/>
                </a:solidFill>
                <a:latin typeface="Calibri"/>
              </a:rPr>
              <a:t>• Viabilidad: </a:t>
            </a:r>
            <a:r>
              <a:rPr sz="1500">
                <a:solidFill>
                  <a:srgbClr val="94A3B8"/>
                </a:solidFill>
                <a:latin typeface="Calibri"/>
              </a:rPr>
              <a:t>Digitalizar mesas VIP con stack accesible — 1 dev, 4 meses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6B6D4"/>
                </a:solidFill>
                <a:latin typeface="Calibri"/>
              </a:rPr>
              <a:t>• Produccion: </a:t>
            </a:r>
            <a:r>
              <a:rPr sz="1500">
                <a:solidFill>
                  <a:srgbClr val="94A3B8"/>
                </a:solidFill>
                <a:latin typeface="Calibri"/>
              </a:rPr>
              <a:t>Ciclo reserva -&gt; pago -&gt; QR -&gt; panel boliche funcionando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6B6D4"/>
                </a:solidFill>
                <a:latin typeface="Calibri"/>
              </a:rPr>
              <a:t>• Diferencial: </a:t>
            </a:r>
            <a:r>
              <a:rPr sz="1500">
                <a:solidFill>
                  <a:srgbClr val="94A3B8"/>
                </a:solidFill>
                <a:latin typeface="Calibri"/>
              </a:rPr>
              <a:t>Mapa 2D, mesa abierta y planes B2B en un solo producto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6B6D4"/>
                </a:solidFill>
                <a:latin typeface="Calibri"/>
              </a:rPr>
              <a:t>• Limitaciones: </a:t>
            </a:r>
            <a:r>
              <a:rPr sz="1500">
                <a:solidFill>
                  <a:srgbClr val="94A3B8"/>
                </a:solidFill>
                <a:latin typeface="Calibri"/>
              </a:rPr>
              <a:t>MP sandbox, geocerca e iOS en roadmap — declaradas en doc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6B6D4"/>
                </a:solidFill>
                <a:latin typeface="Calibri"/>
              </a:rPr>
              <a:t>• Proximo paso: </a:t>
            </a:r>
            <a:r>
              <a:rPr sz="1500">
                <a:solidFill>
                  <a:srgbClr val="94A3B8"/>
                </a:solidFill>
                <a:latin typeface="Calibri"/>
              </a:rPr>
              <a:t>Mas boliches adheridos + estabilizar pagos produccion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kluby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9512" y="1097280"/>
            <a:ext cx="928061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2860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Fin de la presentacion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6B6D4"/>
                </a:solidFill>
                <a:latin typeface="Calibri"/>
              </a:defRPr>
            </a:pPr>
            <a:r>
              <a:t>A continuacion: demostracion en vivo del sistema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https://kluby-production-2fa4.up.railway.app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5603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6B6D4"/>
                </a:solidFill>
                <a:latin typeface="Calibri"/>
              </a:defRPr>
            </a:pPr>
            <a:r>
              <a:t>Demo en vivo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661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Calibri"/>
              </a:defRPr>
            </a:pPr>
            <a:r>
              <a:t>Sistema en produccion · Boliche demo Kora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5216" y="46634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Demo · </a:t>
            </a:r>
            <a:r>
              <a:rPr sz="3400" b="1">
                <a:solidFill>
                  <a:srgbClr val="06B6D4"/>
                </a:solidFill>
                <a:latin typeface="Calibri"/>
              </a:rPr>
              <a:t>Cliente</a:t>
            </a:r>
            <a:r>
              <a:rPr sz="3400" b="1">
                <a:solidFill>
                  <a:srgbClr val="FFFFFF"/>
                </a:solidFill>
                <a:latin typeface="Calibri"/>
              </a:rPr>
              <a:t> (~10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3716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https://kluby-production-2fa4.up.railway.app/app.html  ·  anfitrion@kluby.com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78308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06B6D4"/>
                </a:solidFill>
                <a:latin typeface="Calibri"/>
              </a:rPr>
              <a:t>• 1. Login: </a:t>
            </a:r>
            <a:r>
              <a:rPr sz="1500">
                <a:solidFill>
                  <a:srgbClr val="94A3B8"/>
                </a:solidFill>
                <a:latin typeface="Calibri"/>
              </a:rPr>
              <a:t>anfitrion@kluby.com / password123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6B6D4"/>
                </a:solidFill>
                <a:latin typeface="Calibri"/>
              </a:rPr>
              <a:t>• 2. Explorar: </a:t>
            </a:r>
            <a:r>
              <a:rPr sz="1500">
                <a:solidFill>
                  <a:srgbClr val="94A3B8"/>
                </a:solidFill>
                <a:latin typeface="Calibri"/>
              </a:rPr>
              <a:t>Boliche Kora, filtro fecha, ver flyer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6B6D4"/>
                </a:solidFill>
                <a:latin typeface="Calibri"/>
              </a:rPr>
              <a:t>• 3. Reservar: </a:t>
            </a:r>
            <a:r>
              <a:rPr sz="1500">
                <a:solidFill>
                  <a:srgbClr val="94A3B8"/>
                </a:solidFill>
                <a:latin typeface="Calibri"/>
              </a:rPr>
              <a:t>Wizard: evento -&gt; mapa 2D -&gt; mesa verde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6B6D4"/>
                </a:solidFill>
                <a:latin typeface="Calibri"/>
              </a:rPr>
              <a:t>• 4. Pagar: </a:t>
            </a:r>
            <a:r>
              <a:rPr sz="1500">
                <a:solidFill>
                  <a:srgbClr val="94A3B8"/>
                </a:solidFill>
                <a:latin typeface="Calibri"/>
              </a:rPr>
              <a:t>Confirmar -&gt; ticket QR en Mis mesas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6B6D4"/>
                </a:solidFill>
                <a:latin typeface="Calibri"/>
              </a:rPr>
              <a:t>• 5. Opcional: </a:t>
            </a:r>
            <a:r>
              <a:rPr sz="1500">
                <a:solidFill>
                  <a:srgbClr val="94A3B8"/>
                </a:solidFill>
                <a:latin typeface="Calibri"/>
              </a:rPr>
              <a:t>Mesa abierta o canje Kluby Points si hay tiempo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5216" y="46634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Demo · </a:t>
            </a:r>
            <a:r>
              <a:rPr sz="3400" b="1">
                <a:solidFill>
                  <a:srgbClr val="06B6D4"/>
                </a:solidFill>
                <a:latin typeface="Calibri"/>
              </a:rPr>
              <a:t>Panel y Puerta</a:t>
            </a:r>
            <a:r>
              <a:rPr sz="3400" b="1">
                <a:solidFill>
                  <a:srgbClr val="FFFFFF"/>
                </a:solidFill>
                <a:latin typeface="Calibri"/>
              </a:rPr>
              <a:t> (~8 min)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5216" y="1371600"/>
            <a:ext cx="5303520" cy="301752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  <a:latin typeface="Calibri"/>
              </a:defRPr>
            </a:pPr>
            <a:r>
              <a:t>Panel dueno · panel.html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06B6D4"/>
                </a:solidFill>
                <a:latin typeface="Calibri"/>
              </a:rPr>
              <a:t>• Login: </a:t>
            </a:r>
            <a:r>
              <a:rPr sz="1300">
                <a:solidFill>
                  <a:srgbClr val="94A3B8"/>
                </a:solidFill>
                <a:latin typeface="Calibri"/>
              </a:rPr>
              <a:t>duenokluby1@kluby.com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6B6D4"/>
                </a:solidFill>
                <a:latin typeface="Calibri"/>
              </a:rPr>
              <a:t>• Eventos: </a:t>
            </a:r>
            <a:r>
              <a:rPr sz="1300">
                <a:solidFill>
                  <a:srgbClr val="94A3B8"/>
                </a:solidFill>
                <a:latin typeface="Calibri"/>
              </a:rPr>
              <a:t>Disenador de mesas + operacion en vivo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6B6D4"/>
                </a:solidFill>
                <a:latin typeface="Calibri"/>
              </a:rPr>
              <a:t>• Premium: </a:t>
            </a:r>
            <a:r>
              <a:rPr sz="1300">
                <a:solidFill>
                  <a:srgbClr val="94A3B8"/>
                </a:solidFill>
                <a:latin typeface="Calibri"/>
              </a:rPr>
              <a:t>Estadisticas y comision 2%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371600"/>
            <a:ext cx="5303520" cy="301752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5087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  <a:latin typeface="Calibri"/>
              </a:defRPr>
            </a:pPr>
            <a:r>
              <a:t>Puerta · staff.html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874519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06B6D4"/>
                </a:solidFill>
                <a:latin typeface="Calibri"/>
              </a:rPr>
              <a:t>• Login: </a:t>
            </a:r>
            <a:r>
              <a:rPr sz="1300">
                <a:solidFill>
                  <a:srgbClr val="94A3B8"/>
                </a:solidFill>
                <a:latin typeface="Calibri"/>
              </a:rPr>
              <a:t>puerta@kluby.com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6B6D4"/>
                </a:solidFill>
                <a:latin typeface="Calibri"/>
              </a:rPr>
              <a:t>• Check-in: </a:t>
            </a:r>
            <a:r>
              <a:rPr sz="1300">
                <a:solidFill>
                  <a:srgbClr val="94A3B8"/>
                </a:solidFill>
                <a:latin typeface="Calibri"/>
              </a:rPr>
              <a:t>Escanear QR -&gt; CHECKED_IN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6B6D4"/>
                </a:solidFill>
                <a:latin typeface="Calibri"/>
              </a:rPr>
              <a:t>• Cierre: </a:t>
            </a:r>
            <a:r>
              <a:rPr sz="1300">
                <a:solidFill>
                  <a:srgbClr val="94A3B8"/>
                </a:solidFill>
                <a:latin typeface="Calibri"/>
              </a:rPr>
              <a:t>Cerrar mesa -&gt; Kluby Points al cliente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6B6D4"/>
                </a:solidFill>
                <a:latin typeface="Calibri"/>
              </a:rPr>
              <a:t>• APK: </a:t>
            </a:r>
            <a:r>
              <a:rPr sz="1300">
                <a:solidFill>
                  <a:srgbClr val="94A3B8"/>
                </a:solidFill>
                <a:latin typeface="Calibri"/>
              </a:rPr>
              <a:t>Misma URL + camara nativa Capacitor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kluby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9512" y="1371600"/>
            <a:ext cx="928061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7432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6B6D4"/>
                </a:solidFill>
                <a:latin typeface="Calibri"/>
              </a:defRPr>
            </a:pPr>
            <a:r>
              <a:t>Preguntas?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Enzo Pugliese  ·  https://kluby-production-2fa4.up.railway.app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Calibri"/>
              </a:defRPr>
            </a:pPr>
            <a:r>
              <a:t>Gracias al tribunal por su tiempo y feedback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